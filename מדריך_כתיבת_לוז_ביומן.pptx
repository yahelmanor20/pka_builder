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1000"/>
              </a:spcAft>
            </a:pPr>
            <a:r>
              <a:rPr sz="5000" b="1">
                <a:solidFill>
                  <a:srgbClr val="FFFFFF"/>
                </a:solidFill>
                <a:latin typeface="David"/>
                <a:cs typeface="David"/>
              </a:rPr>
              <a:t>איך לכתוב לו״ז נכון ביומן</a:t>
            </a:r>
          </a:p>
          <a:p>
            <a:pPr algn="ctr" rtl="1">
              <a:spcAft>
                <a:spcPts val="600"/>
              </a:spcAft>
            </a:pPr>
            <a:r>
              <a:rPr sz="2400" b="0">
                <a:solidFill>
                  <a:srgbClr val="E9F0F7"/>
                </a:solidFill>
                <a:latin typeface="David"/>
                <a:cs typeface="David"/>
              </a:rPr>
              <a:t>מדריך למפקץ · בא״פ 8222 · ביה״ס ללחימה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40680"/>
            <a:ext cx="9418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David"/>
                <a:cs typeface="David"/>
              </a:rPr>
              <a:t>הכלי בונה את הפק״א מהיומן אוטומטית.</a:t>
            </a:r>
          </a:p>
          <a:p>
            <a:pPr algn="ctr" rtl="1">
              <a:spcAft>
                <a:spcPts val="300"/>
              </a:spcAft>
            </a:pPr>
            <a:r>
              <a:rPr sz="1700" b="0">
                <a:solidFill>
                  <a:srgbClr val="E9F0F7"/>
                </a:solidFill>
                <a:latin typeface="David"/>
                <a:cs typeface="David"/>
              </a:rPr>
              <a:t>כתוב את האירועים לפי 8 הכללים הבאים — והוא יקרא אותם נכון.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24688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rtl="1">
              <a:spcAft>
                <a:spcPts val="300"/>
              </a:spcAft>
            </a:pPr>
            <a:r>
              <a:rPr sz="2400" b="1">
                <a:solidFill>
                  <a:srgbClr val="1F4E79"/>
                </a:solidFill>
                <a:latin typeface="David"/>
                <a:cs typeface="David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David"/>
                <a:cs typeface="David"/>
              </a:rPr>
              <a:t>הכי חשוב: הצבע קובע את הפלוגה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908792" cy="685800"/>
          </a:xfrm>
          <a:prstGeom prst="roundRect">
            <a:avLst>
              <a:gd name="adj" fmla="val 7000"/>
            </a:avLst>
          </a:prstGeom>
          <a:solidFill>
            <a:srgbClr val="FB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800" b="1">
                <a:solidFill>
                  <a:srgbClr val="B00000"/>
                </a:solidFill>
                <a:latin typeface="David"/>
                <a:cs typeface="David"/>
              </a:rPr>
              <a:t>הצבע גובר על הכותרת — אירוע בלי צבע לא משויך לאף פלוגה!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54480" y="2240280"/>
          <a:ext cx="905256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5120640"/>
              </a:tblGrid>
              <a:tr h="522514">
                <a:tc>
                  <a:txBody>
                    <a:bodyPr/>
                    <a:lstStyle/>
                    <a:p>
                      <a:pPr algn="ctr" rtl="1"/>
                      <a:r>
                        <a:rPr sz="1600" b="1">
                          <a:solidFill>
                            <a:srgbClr val="FFFFFF"/>
                          </a:solidFill>
                          <a:latin typeface="David"/>
                          <a:cs typeface="David"/>
                        </a:rPr>
                        <a:t>צבע האירוע ביומן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600" b="1">
                          <a:solidFill>
                            <a:srgbClr val="FFFFFF"/>
                          </a:solidFill>
                          <a:latin typeface="David"/>
                          <a:cs typeface="David"/>
                        </a:rPr>
                        <a:t>כך הכלי משייך אותו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rtl="1"/>
                      <a:r>
                        <a:rPr sz="1600" b="1">
                          <a:solidFill>
                            <a:srgbClr val="FFFFFF"/>
                          </a:solidFill>
                          <a:latin typeface="David"/>
                          <a:cs typeface="David"/>
                        </a:rPr>
                        <a:t>עגבנייה (Tomato)</a:t>
                      </a:r>
                    </a:p>
                  </a:txBody>
                  <a:tcPr anchor="ctr">
                    <a:solidFill>
                      <a:srgbClr val="D5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2A2A2A"/>
                          </a:solidFill>
                          <a:latin typeface="David"/>
                          <a:cs typeface="David"/>
                        </a:rPr>
                        <a:t>  פלוגה א׳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rtl="1"/>
                      <a:r>
                        <a:rPr sz="1600" b="1">
                          <a:solidFill>
                            <a:srgbClr val="FFFFFF"/>
                          </a:solidFill>
                          <a:latin typeface="David"/>
                          <a:cs typeface="David"/>
                        </a:rPr>
                        <a:t>מנדרינה (Tangerine)</a:t>
                      </a:r>
                    </a:p>
                  </a:txBody>
                  <a:tcPr anchor="ctr">
                    <a:solidFill>
                      <a:srgbClr val="F4511E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2A2A2A"/>
                          </a:solidFill>
                          <a:latin typeface="David"/>
                          <a:cs typeface="David"/>
                        </a:rPr>
                        <a:t>  פלוגה ב׳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rtl="1"/>
                      <a:r>
                        <a:rPr sz="1600" b="1">
                          <a:solidFill>
                            <a:srgbClr val="2A2A2A"/>
                          </a:solidFill>
                          <a:latin typeface="David"/>
                          <a:cs typeface="David"/>
                        </a:rPr>
                        <a:t>בננה (Banana)</a:t>
                      </a:r>
                    </a:p>
                  </a:txBody>
                  <a:tcPr anchor="ctr">
                    <a:solidFill>
                      <a:srgbClr val="F6BF2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2A2A2A"/>
                          </a:solidFill>
                          <a:latin typeface="David"/>
                          <a:cs typeface="David"/>
                        </a:rPr>
                        <a:t>  פלוגה ג׳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rtl="1"/>
                      <a:r>
                        <a:rPr sz="1600" b="1">
                          <a:solidFill>
                            <a:srgbClr val="FFFFFF"/>
                          </a:solidFill>
                          <a:latin typeface="David"/>
                          <a:cs typeface="David"/>
                        </a:rPr>
                        <a:t>בזיליקום (Basil)</a:t>
                      </a:r>
                    </a:p>
                  </a:txBody>
                  <a:tcPr anchor="ctr">
                    <a:solidFill>
                      <a:srgbClr val="0B804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2A2A2A"/>
                          </a:solidFill>
                          <a:latin typeface="David"/>
                          <a:cs typeface="David"/>
                        </a:rPr>
                        <a:t>  פלוגה ד׳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 rtl="1"/>
                      <a:r>
                        <a:rPr sz="1600" b="1">
                          <a:solidFill>
                            <a:srgbClr val="2A2A2A"/>
                          </a:solidFill>
                          <a:latin typeface="David"/>
                          <a:cs typeface="David"/>
                        </a:rPr>
                        <a:t>פלמינגו (Flamingo)</a:t>
                      </a:r>
                    </a:p>
                  </a:txBody>
                  <a:tcPr anchor="ctr">
                    <a:solidFill>
                      <a:srgbClr val="E67C7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2A2A2A"/>
                          </a:solidFill>
                          <a:latin typeface="David"/>
                          <a:cs typeface="David"/>
                        </a:rPr>
                        <a:t>  לו״ז מקביל → נספח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 rtl="1"/>
                      <a:r>
                        <a:rPr sz="1600" b="1">
                          <a:solidFill>
                            <a:srgbClr val="FFFFFF"/>
                          </a:solidFill>
                          <a:latin typeface="David"/>
                          <a:cs typeface="David"/>
                        </a:rPr>
                        <a:t>גרפיט (Graphite)</a:t>
                      </a:r>
                    </a:p>
                  </a:txBody>
                  <a:tcPr anchor="ctr">
                    <a:solidFill>
                      <a:srgbClr val="61616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sz="1500" b="0">
                          <a:solidFill>
                            <a:srgbClr val="2A2A2A"/>
                          </a:solidFill>
                          <a:latin typeface="David"/>
                          <a:cs typeface="David"/>
                        </a:rPr>
                        <a:t>  פלס״ם → נספח פלס״ם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00" b="0">
                <a:solidFill>
                  <a:srgbClr val="6B6B6B"/>
                </a:solidFill>
                <a:latin typeface="David"/>
                <a:cs typeface="David"/>
              </a:rPr>
              <a:t>ביומן: פותחים את האירוע ← לוחצים על עיגול הצבע ← בוחרים את הצבע הנכון.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37376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000" b="0">
                <a:solidFill>
                  <a:srgbClr val="6B6B6B"/>
                </a:solidFill>
                <a:latin typeface="David"/>
                <a:cs typeface="David"/>
              </a:rPr>
              <a:t>מדריך למפקץ · איך לכתוב לו״ז נכון ביומן · בא״פ 8222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24688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rtl="1">
              <a:spcAft>
                <a:spcPts val="300"/>
              </a:spcAft>
            </a:pPr>
            <a:r>
              <a:rPr sz="2400" b="1">
                <a:solidFill>
                  <a:srgbClr val="1F4E79"/>
                </a:solidFill>
                <a:latin typeface="David"/>
                <a:cs typeface="David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David"/>
                <a:cs typeface="David"/>
              </a:rPr>
              <a:t>כותרת אירוע פלוגתי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700"/>
              </a:spcAft>
            </a:pPr>
            <a:r>
              <a:rPr sz="2200" b="1">
                <a:solidFill>
                  <a:srgbClr val="1F4E79"/>
                </a:solidFill>
                <a:latin typeface="David"/>
                <a:cs typeface="David"/>
              </a:rPr>
              <a:t>הפורמט:   פלוגה א׳ - שם הפעילות</a:t>
            </a:r>
          </a:p>
          <a:p>
            <a:pPr algn="r" rtl="1">
              <a:spcAft>
                <a:spcPts val="700"/>
              </a:spcAft>
            </a:pPr>
            <a:r>
              <a:rPr sz="1900" b="0">
                <a:solidFill>
                  <a:srgbClr val="2A2A2A"/>
                </a:solidFill>
                <a:latin typeface="David"/>
                <a:cs typeface="David"/>
              </a:rPr>
              <a:t>הטקסט שאחרי המקף = שם הפעילות שיופיע בלו״ז.</a:t>
            </a:r>
          </a:p>
          <a:p>
            <a:pPr algn="r" rtl="1">
              <a:spcAft>
                <a:spcPts val="700"/>
              </a:spcAft>
            </a:pPr>
            <a:r>
              <a:rPr sz="1700" b="0">
                <a:solidFill>
                  <a:srgbClr val="6B6B6B"/>
                </a:solidFill>
                <a:latin typeface="David"/>
                <a:cs typeface="David"/>
              </a:rPr>
              <a:t>הכלי סובלני (פל׳ / פלוגה / מקף / נקודתיים) — אבל כתוב מסודר.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572000"/>
            <a:ext cx="5394960" cy="1417320"/>
          </a:xfrm>
          <a:prstGeom prst="roundRect">
            <a:avLst>
              <a:gd name="adj" fmla="val 7000"/>
            </a:avLst>
          </a:prstGeom>
          <a:solidFill>
            <a:srgbClr val="E6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4663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800" b="1">
                <a:solidFill>
                  <a:srgbClr val="2E7D32"/>
                </a:solidFill>
                <a:latin typeface="David"/>
                <a:cs typeface="David"/>
              </a:rPr>
              <a:t>✓  נכון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138928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600" b="0">
                <a:solidFill>
                  <a:srgbClr val="2A2A2A"/>
                </a:solidFill>
                <a:latin typeface="David"/>
                <a:cs typeface="David"/>
              </a:rPr>
              <a:t>פלוגה א׳ - מטווח קלעים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5394960" cy="1417320"/>
          </a:xfrm>
          <a:prstGeom prst="roundRect">
            <a:avLst>
              <a:gd name="adj" fmla="val 7000"/>
            </a:avLst>
          </a:prstGeom>
          <a:solidFill>
            <a:srgbClr val="FB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800" b="1">
                <a:solidFill>
                  <a:srgbClr val="B00000"/>
                </a:solidFill>
                <a:latin typeface="David"/>
                <a:cs typeface="David"/>
              </a:rPr>
              <a:t>✗  שגוי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5138928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600" b="0">
                <a:solidFill>
                  <a:srgbClr val="2A2A2A"/>
                </a:solidFill>
                <a:latin typeface="David"/>
                <a:cs typeface="David"/>
              </a:rPr>
              <a:t>מטווח קלעים — בלי פלוגה ובלי צבע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37376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000" b="0">
                <a:solidFill>
                  <a:srgbClr val="6B6B6B"/>
                </a:solidFill>
                <a:latin typeface="David"/>
                <a:cs typeface="David"/>
              </a:rPr>
              <a:t>מדריך למפקץ · איך לכתוב לו״ז נכון ביומן · בא״פ 8222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24688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rtl="1">
              <a:spcAft>
                <a:spcPts val="300"/>
              </a:spcAft>
            </a:pPr>
            <a:r>
              <a:rPr sz="2400" b="1">
                <a:solidFill>
                  <a:srgbClr val="1F4E79"/>
                </a:solidFill>
                <a:latin typeface="David"/>
                <a:cs typeface="David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David"/>
                <a:cs typeface="David"/>
              </a:rPr>
              <a:t>שעה — בשדה השעה, לא בכותרת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700"/>
              </a:spcAft>
            </a:pPr>
            <a:r>
              <a:rPr sz="2000" b="1">
                <a:solidFill>
                  <a:srgbClr val="2A2A2A"/>
                </a:solidFill>
                <a:latin typeface="David"/>
                <a:cs typeface="David"/>
              </a:rPr>
              <a:t>מלא שעת התחלה וסיום אמיתיות באירוע.</a:t>
            </a:r>
          </a:p>
          <a:p>
            <a:pPr algn="r" rtl="1">
              <a:spcAft>
                <a:spcPts val="700"/>
              </a:spcAft>
            </a:pPr>
            <a:r>
              <a:rPr sz="1900" b="0">
                <a:solidFill>
                  <a:srgbClr val="2A2A2A"/>
                </a:solidFill>
                <a:latin typeface="David"/>
                <a:cs typeface="David"/>
              </a:rPr>
              <a:t>מהן הכלי בונה את עמודת השעה בלו״ז.</a:t>
            </a:r>
          </a:p>
          <a:p>
            <a:pPr algn="r" rtl="1">
              <a:spcAft>
                <a:spcPts val="700"/>
              </a:spcAft>
            </a:pPr>
            <a:r>
              <a:rPr sz="1800" b="0">
                <a:solidFill>
                  <a:srgbClr val="B00000"/>
                </a:solidFill>
                <a:latin typeface="David"/>
                <a:cs typeface="David"/>
              </a:rPr>
              <a:t>אירוע ״כל היום״ או בלי שעה → אזהרה ״ללא שעה״.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572000"/>
            <a:ext cx="5394960" cy="1417320"/>
          </a:xfrm>
          <a:prstGeom prst="roundRect">
            <a:avLst>
              <a:gd name="adj" fmla="val 7000"/>
            </a:avLst>
          </a:prstGeom>
          <a:solidFill>
            <a:srgbClr val="E6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4663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800" b="1">
                <a:solidFill>
                  <a:srgbClr val="2E7D32"/>
                </a:solidFill>
                <a:latin typeface="David"/>
                <a:cs typeface="David"/>
              </a:rPr>
              <a:t>✓  נכון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138928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600" b="0">
                <a:solidFill>
                  <a:srgbClr val="2A2A2A"/>
                </a:solidFill>
                <a:latin typeface="David"/>
                <a:cs typeface="David"/>
              </a:rPr>
              <a:t>אירוע מתוזמן 08:00–11:00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5394960" cy="1417320"/>
          </a:xfrm>
          <a:prstGeom prst="roundRect">
            <a:avLst>
              <a:gd name="adj" fmla="val 7000"/>
            </a:avLst>
          </a:prstGeom>
          <a:solidFill>
            <a:srgbClr val="FB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800" b="1">
                <a:solidFill>
                  <a:srgbClr val="B00000"/>
                </a:solidFill>
                <a:latin typeface="David"/>
                <a:cs typeface="David"/>
              </a:rPr>
              <a:t>✗  שגוי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5138928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600" b="0">
                <a:solidFill>
                  <a:srgbClr val="2A2A2A"/>
                </a:solidFill>
                <a:latin typeface="David"/>
                <a:cs typeface="David"/>
              </a:rPr>
              <a:t>אירוע ״כל היום״, או שעה בתוך הכותרת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37376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000" b="0">
                <a:solidFill>
                  <a:srgbClr val="6B6B6B"/>
                </a:solidFill>
                <a:latin typeface="David"/>
                <a:cs typeface="David"/>
              </a:rPr>
              <a:t>מדריך למפקץ · איך לכתוב לו״ז נכון ביומן · בא״פ 8222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24688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rtl="1">
              <a:spcAft>
                <a:spcPts val="300"/>
              </a:spcAft>
            </a:pPr>
            <a:r>
              <a:rPr sz="2400" b="1">
                <a:solidFill>
                  <a:srgbClr val="1F4E79"/>
                </a:solidFill>
                <a:latin typeface="David"/>
                <a:cs typeface="David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David"/>
                <a:cs typeface="David"/>
              </a:rPr>
              <a:t>מיקום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700"/>
              </a:spcAft>
            </a:pPr>
            <a:r>
              <a:rPr sz="2000" b="1">
                <a:solidFill>
                  <a:srgbClr val="2A2A2A"/>
                </a:solidFill>
                <a:latin typeface="David"/>
                <a:cs typeface="David"/>
              </a:rPr>
              <a:t>מלא את שדה המיקום של האירוע ביומן.</a:t>
            </a:r>
          </a:p>
          <a:p>
            <a:pPr algn="r" rtl="1">
              <a:spcAft>
                <a:spcPts val="700"/>
              </a:spcAft>
            </a:pPr>
            <a:r>
              <a:rPr sz="1800" b="0">
                <a:solidFill>
                  <a:srgbClr val="B00000"/>
                </a:solidFill>
                <a:latin typeface="David"/>
                <a:cs typeface="David"/>
              </a:rPr>
              <a:t>שדה ריק → ״מיקום לא ידוע״ + אזהרה צהובה.</a:t>
            </a:r>
          </a:p>
          <a:p>
            <a:pPr algn="r" rtl="1">
              <a:spcAft>
                <a:spcPts val="700"/>
              </a:spcAft>
            </a:pPr>
            <a:r>
              <a:rPr sz="1800" b="0">
                <a:solidFill>
                  <a:srgbClr val="2A2A2A"/>
                </a:solidFill>
                <a:latin typeface="David"/>
                <a:cs typeface="David"/>
              </a:rPr>
              <a:t>אפשר גם בתיאור, בשורה:   מיקום: &lt;שם המקום&gt;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572000"/>
            <a:ext cx="5394960" cy="1417320"/>
          </a:xfrm>
          <a:prstGeom prst="roundRect">
            <a:avLst>
              <a:gd name="adj" fmla="val 7000"/>
            </a:avLst>
          </a:prstGeom>
          <a:solidFill>
            <a:srgbClr val="E6F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4663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800" b="1">
                <a:solidFill>
                  <a:srgbClr val="2E7D32"/>
                </a:solidFill>
                <a:latin typeface="David"/>
                <a:cs typeface="David"/>
              </a:rPr>
              <a:t>✓  נכון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5138928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600" b="0">
                <a:solidFill>
                  <a:srgbClr val="2A2A2A"/>
                </a:solidFill>
                <a:latin typeface="David"/>
                <a:cs typeface="David"/>
              </a:rPr>
              <a:t>שדה מיקום: ״שטח 9א׳״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572000"/>
            <a:ext cx="5394960" cy="1417320"/>
          </a:xfrm>
          <a:prstGeom prst="roundRect">
            <a:avLst>
              <a:gd name="adj" fmla="val 7000"/>
            </a:avLst>
          </a:prstGeom>
          <a:solidFill>
            <a:srgbClr val="FB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800" b="1">
                <a:solidFill>
                  <a:srgbClr val="B00000"/>
                </a:solidFill>
                <a:latin typeface="David"/>
                <a:cs typeface="David"/>
              </a:rPr>
              <a:t>✗  שגוי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5138928"/>
            <a:ext cx="5029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600" b="0">
                <a:solidFill>
                  <a:srgbClr val="2A2A2A"/>
                </a:solidFill>
                <a:latin typeface="David"/>
                <a:cs typeface="David"/>
              </a:rPr>
              <a:t>שדה מיקום ריק; המקום רק בכותרת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37376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000" b="0">
                <a:solidFill>
                  <a:srgbClr val="6B6B6B"/>
                </a:solidFill>
                <a:latin typeface="David"/>
                <a:cs typeface="David"/>
              </a:rPr>
              <a:t>מדריך למפקץ · איך לכתוב לו״ז נכון ביומן · בא״פ 8222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24688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rtl="1">
              <a:spcAft>
                <a:spcPts val="300"/>
              </a:spcAft>
            </a:pPr>
            <a:r>
              <a:rPr sz="2400" b="1">
                <a:solidFill>
                  <a:srgbClr val="1F4E79"/>
                </a:solidFill>
                <a:latin typeface="David"/>
                <a:cs typeface="David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David"/>
                <a:cs typeface="David"/>
              </a:rPr>
              <a:t>תיאור — שדות מסודרים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900" b="1">
                <a:solidFill>
                  <a:srgbClr val="2A2A2A"/>
                </a:solidFill>
                <a:latin typeface="David"/>
                <a:cs typeface="David"/>
              </a:rPr>
              <a:t>כל שדה בשורה נפרדת, עם נקודתיים. הכלי מזהה בדיוק את שלוש המילים: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2057400"/>
            <a:ext cx="8229600" cy="74980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84080" y="2057400"/>
            <a:ext cx="640080" cy="749808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176272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David"/>
                <a:cs typeface="David"/>
              </a:rPr>
              <a:t>גורם מעביר: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176272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>
                <a:solidFill>
                  <a:srgbClr val="2A2A2A"/>
                </a:solidFill>
                <a:latin typeface="David"/>
                <a:cs typeface="David"/>
              </a:rPr>
              <a:t>שם המעביר — חסר → אזהרה ״חסר גורם מעביר״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971800"/>
            <a:ext cx="8229600" cy="74980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0" y="2971800"/>
            <a:ext cx="640080" cy="749808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090672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David"/>
                <a:cs typeface="David"/>
              </a:rPr>
              <a:t>הערות: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090672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>
                <a:solidFill>
                  <a:srgbClr val="2A2A2A"/>
                </a:solidFill>
                <a:latin typeface="David"/>
                <a:cs typeface="David"/>
              </a:rPr>
              <a:t>טקסט חופשי שיופיע בעמודת ההערות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3886200"/>
            <a:ext cx="8229600" cy="749808"/>
          </a:xfrm>
          <a:prstGeom prst="roundRect">
            <a:avLst>
              <a:gd name="adj" fmla="val 7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84080" y="3886200"/>
            <a:ext cx="640080" cy="749808"/>
          </a:xfrm>
          <a:prstGeom prst="roundRect">
            <a:avLst>
              <a:gd name="adj" fmla="val 7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4005072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800" b="1">
                <a:solidFill>
                  <a:srgbClr val="1F4E79"/>
                </a:solidFill>
                <a:latin typeface="David"/>
                <a:cs typeface="David"/>
              </a:rPr>
              <a:t>מיקום: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005072"/>
            <a:ext cx="47548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 b="0">
                <a:solidFill>
                  <a:srgbClr val="2A2A2A"/>
                </a:solidFill>
                <a:latin typeface="David"/>
                <a:cs typeface="David"/>
              </a:rPr>
              <a:t>שם מקום — דורס את שדה המיקום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07492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500"/>
              </a:spcAft>
            </a:pPr>
            <a:r>
              <a:rPr sz="1600" b="0">
                <a:solidFill>
                  <a:srgbClr val="6B6B6B"/>
                </a:solidFill>
                <a:latin typeface="David"/>
                <a:cs typeface="David"/>
              </a:rPr>
              <a:t>כל שורה שאינה בפורמט הזה — נדבקת אוטומטית לשדה ההערות.</a:t>
            </a:r>
          </a:p>
          <a:p>
            <a:pPr algn="r" rtl="1">
              <a:spcAft>
                <a:spcPts val="500"/>
              </a:spcAft>
            </a:pPr>
            <a:r>
              <a:rPr sz="1600" b="0">
                <a:solidFill>
                  <a:srgbClr val="6B6B6B"/>
                </a:solidFill>
                <a:latin typeface="David"/>
                <a:cs typeface="David"/>
              </a:rPr>
              <a:t>באירוע טכניקות/תרגול — פירוט בתיאור נדבק בסוגריים לשם הפעילות.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37376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000" b="0">
                <a:solidFill>
                  <a:srgbClr val="6B6B6B"/>
                </a:solidFill>
                <a:latin typeface="David"/>
                <a:cs typeface="David"/>
              </a:rPr>
              <a:t>מדריך למפקץ · איך לכתוב לו״ז נכון ביומן · בא״פ 8222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24688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rtl="1">
              <a:spcAft>
                <a:spcPts val="300"/>
              </a:spcAft>
            </a:pPr>
            <a:r>
              <a:rPr sz="2400" b="1">
                <a:solidFill>
                  <a:srgbClr val="1F4E79"/>
                </a:solidFill>
                <a:latin typeface="David"/>
                <a:cs typeface="David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David"/>
                <a:cs typeface="David"/>
              </a:rPr>
              <a:t>פעילויות מקבילות (לא בלו״ז היומי)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700"/>
              </a:spcAft>
            </a:pPr>
            <a:r>
              <a:rPr sz="1900" b="1">
                <a:solidFill>
                  <a:srgbClr val="2A2A2A"/>
                </a:solidFill>
                <a:latin typeface="David"/>
                <a:cs typeface="David"/>
              </a:rPr>
              <a:t>חובשים · תאג״ד · סמב״צים · הסמכות · רענונים — צבע פלמינגו → נספח מקביל.</a:t>
            </a:r>
          </a:p>
          <a:p>
            <a:pPr algn="r" rtl="1">
              <a:spcAft>
                <a:spcPts val="700"/>
              </a:spcAft>
            </a:pPr>
            <a:r>
              <a:rPr sz="1900" b="1">
                <a:solidFill>
                  <a:srgbClr val="2A2A2A"/>
                </a:solidFill>
                <a:latin typeface="David"/>
                <a:cs typeface="David"/>
              </a:rPr>
              <a:t>פלס״ם — צבע גרפיט → נספח פלס״ם נפרד.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572000"/>
            <a:ext cx="10908792" cy="777240"/>
          </a:xfrm>
          <a:prstGeom prst="roundRect">
            <a:avLst>
              <a:gd name="adj" fmla="val 7000"/>
            </a:avLst>
          </a:prstGeom>
          <a:solidFill>
            <a:srgbClr val="FFF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681728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600" b="1">
                <a:solidFill>
                  <a:srgbClr val="8A6600"/>
                </a:solidFill>
                <a:latin typeface="David"/>
                <a:cs typeface="David"/>
              </a:rPr>
              <a:t>חריג: ״מרחב חכם״ תמיד נשאר בלו״ז היומי — גם אם צבעת אותו פלמינגו.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37376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000" b="0">
                <a:solidFill>
                  <a:srgbClr val="6B6B6B"/>
                </a:solidFill>
                <a:latin typeface="David"/>
                <a:cs typeface="David"/>
              </a:rPr>
              <a:t>מדריך למפקץ · איך לכתוב לו״ז נכון ביומן · בא״פ 8222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24688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rtl="1">
              <a:spcAft>
                <a:spcPts val="300"/>
              </a:spcAft>
            </a:pPr>
            <a:r>
              <a:rPr sz="2400" b="1">
                <a:solidFill>
                  <a:srgbClr val="1F4E79"/>
                </a:solidFill>
                <a:latin typeface="David"/>
                <a:cs typeface="David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David"/>
                <a:cs typeface="David"/>
              </a:rPr>
              <a:t>יום מפוצל (2+ פלוגות באותו יום)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700"/>
              </a:spcAft>
            </a:pPr>
            <a:r>
              <a:rPr sz="1900" b="1">
                <a:solidFill>
                  <a:srgbClr val="2A2A2A"/>
                </a:solidFill>
                <a:latin typeface="David"/>
                <a:cs typeface="David"/>
              </a:rPr>
              <a:t>מזהה 2 פלוגות שונות או יותר ביום → הטבלה הופכת אוטומטית לעמודות פלוגה.</a:t>
            </a:r>
          </a:p>
          <a:p>
            <a:pPr algn="r" rtl="1">
              <a:spcAft>
                <a:spcPts val="700"/>
              </a:spcAft>
            </a:pPr>
            <a:r>
              <a:rPr sz="800" b="0">
                <a:solidFill>
                  <a:srgbClr val="2A2A2A"/>
                </a:solidFill>
                <a:latin typeface="David"/>
                <a:cs typeface="David"/>
              </a:rPr>
              <a:t/>
            </a:r>
          </a:p>
          <a:p>
            <a:pPr algn="r" rtl="1">
              <a:spcAft>
                <a:spcPts val="700"/>
              </a:spcAft>
            </a:pPr>
            <a:r>
              <a:rPr sz="2000" b="1">
                <a:solidFill>
                  <a:srgbClr val="1F4E79"/>
                </a:solidFill>
                <a:latin typeface="David"/>
                <a:cs typeface="David"/>
              </a:rPr>
              <a:t>פעילות לכל הגדוד ביום מפוצל:</a:t>
            </a:r>
          </a:p>
          <a:p>
            <a:pPr algn="r" rtl="1">
              <a:spcAft>
                <a:spcPts val="700"/>
              </a:spcAft>
            </a:pPr>
            <a:r>
              <a:rPr sz="1900" b="0">
                <a:solidFill>
                  <a:srgbClr val="2A2A2A"/>
                </a:solidFill>
                <a:latin typeface="David"/>
                <a:cs typeface="David"/>
              </a:rPr>
              <a:t>השאר אותה בלי צבע פלוגה — כך תופיע כשורה רוחבית אחת לכל הגדוד.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37376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000" b="0">
                <a:solidFill>
                  <a:srgbClr val="6B6B6B"/>
                </a:solidFill>
                <a:latin typeface="David"/>
                <a:cs typeface="David"/>
              </a:rPr>
              <a:t>מדריך למפקץ · איך לכתוב לו״ז נכון ביומן · בא״פ 8222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246888"/>
            <a:ext cx="566928" cy="56692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 rtl="1">
              <a:spcAft>
                <a:spcPts val="300"/>
              </a:spcAft>
            </a:pPr>
            <a:r>
              <a:rPr sz="2400" b="1">
                <a:solidFill>
                  <a:srgbClr val="1F4E79"/>
                </a:solidFill>
                <a:latin typeface="David"/>
                <a:cs typeface="David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David"/>
                <a:cs typeface="David"/>
              </a:rPr>
              <a:t>לפני שסיימת — בדוק את הצהוב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08792" cy="1234440"/>
          </a:xfrm>
          <a:prstGeom prst="roundRect">
            <a:avLst>
              <a:gd name="adj" fmla="val 7000"/>
            </a:avLst>
          </a:prstGeom>
          <a:solidFill>
            <a:srgbClr val="FFF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000" b="1">
                <a:solidFill>
                  <a:srgbClr val="8A6600"/>
                </a:solidFill>
                <a:latin typeface="David"/>
                <a:cs typeface="David"/>
              </a:rPr>
              <a:t>כל אזהרה צהובה בתצוגה = משהו לתקן ביומן:</a:t>
            </a:r>
          </a:p>
          <a:p>
            <a:pPr algn="ctr" rtl="1">
              <a:spcAft>
                <a:spcPts val="400"/>
              </a:spcAft>
            </a:pPr>
            <a:r>
              <a:rPr sz="2000" b="1">
                <a:solidFill>
                  <a:srgbClr val="2A2A2A"/>
                </a:solidFill>
                <a:latin typeface="David"/>
                <a:cs typeface="David"/>
              </a:rPr>
              <a:t>ללא שעה   ·   מיקום לא ידוע   ·   חסר גורם מעביר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200400"/>
            <a:ext cx="10908792" cy="2468880"/>
          </a:xfrm>
          <a:prstGeom prst="roundRect">
            <a:avLst>
              <a:gd name="adj" fmla="val 7000"/>
            </a:avLst>
          </a:prstGeom>
          <a:solidFill>
            <a:srgbClr val="FB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105156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spcAft>
                <a:spcPts val="1000"/>
              </a:spcAft>
            </a:pPr>
            <a:r>
              <a:rPr sz="2600" b="1">
                <a:solidFill>
                  <a:srgbClr val="B00000"/>
                </a:solidFill>
                <a:latin typeface="David"/>
                <a:cs typeface="David"/>
              </a:rPr>
              <a:t>✗  אל תעשה</a:t>
            </a:r>
          </a:p>
          <a:p>
            <a:pPr algn="ctr" rtl="1">
              <a:spcAft>
                <a:spcPts val="500"/>
              </a:spcAft>
            </a:pPr>
            <a:r>
              <a:rPr sz="1900" b="0">
                <a:solidFill>
                  <a:srgbClr val="2A2A2A"/>
                </a:solidFill>
                <a:latin typeface="David"/>
                <a:cs typeface="David"/>
              </a:rPr>
              <a:t>שעה בכותרת במקום בשדה</a:t>
            </a:r>
          </a:p>
          <a:p>
            <a:pPr algn="ctr" rtl="1">
              <a:spcAft>
                <a:spcPts val="500"/>
              </a:spcAft>
            </a:pPr>
            <a:r>
              <a:rPr sz="1900" b="0">
                <a:solidFill>
                  <a:srgbClr val="2A2A2A"/>
                </a:solidFill>
                <a:latin typeface="David"/>
                <a:cs typeface="David"/>
              </a:rPr>
              <a:t>אירוע בלי צבע   ·   מיקום ריק</a:t>
            </a:r>
          </a:p>
          <a:p>
            <a:pPr algn="ctr" rtl="1">
              <a:spcAft>
                <a:spcPts val="500"/>
              </a:spcAft>
            </a:pPr>
            <a:r>
              <a:rPr sz="1900" b="0">
                <a:solidFill>
                  <a:srgbClr val="2A2A2A"/>
                </a:solidFill>
                <a:latin typeface="David"/>
                <a:cs typeface="David"/>
              </a:rPr>
              <a:t>שיוך פלוגה לפי כותרת בלבד   ·   פעילות מקבילה בצבע פלוגה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37376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1000" b="0">
                <a:solidFill>
                  <a:srgbClr val="6B6B6B"/>
                </a:solidFill>
                <a:latin typeface="David"/>
                <a:cs typeface="David"/>
              </a:rPr>
              <a:t>מדריך למפקץ · איך לכתוב לו״ז נכון ביומן · בא״פ 8222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